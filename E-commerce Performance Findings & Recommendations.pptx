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Opportunity: protect what drives revenue and fix what drags satisfaction.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 checks: no nulls, no duplicate IDs, every order total reconciled with price x quantity x discount. 648 unusually large orders were flagged and tested; conclusions did not change without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Electronics: five products each ~15% of revenue. Peak: Nov-Dec average order is $820 vs $557 the rest of the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Rating is flat at about 4 for days 1-10, then drops by half at day 11. 16,656 orders were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discounts average 22% vs 7% in the rest of the year, yet quantity per order does not rise with deeper discounts inside either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$0.37M is simple arithmetic: $5.3M of discount / 14.2 points, over 3.5 years. Rating of 4.0 is the on-time average, an upper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need cost and customer-level data that this dataset does not reliably contain.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61718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135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135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13558"/>
            <a:ext cx="10566400" cy="393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61718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135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135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13558"/>
            <a:ext cx="10566400" cy="393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BUSINESS PROBLEM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is flat, so where can we grow or lose most?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118360"/>
            <a:ext cx="10883392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grew only 4.6% in 2025 after dipping 0.9% in 2024. Before investing, we asked three questions: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5975" y="2717800"/>
            <a:ext cx="3380264" cy="1962150"/>
          </a:xfrm>
          <a:prstGeom prst="roundRect">
            <a:avLst>
              <a:gd name="adj" fmla="val 5016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2973705"/>
            <a:ext cx="2954507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F5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71880" y="3928745"/>
            <a:ext cx="295450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Which products and customers drive the money?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5789" y="2717800"/>
            <a:ext cx="3380343" cy="1962150"/>
          </a:xfrm>
          <a:prstGeom prst="roundRect">
            <a:avLst>
              <a:gd name="adj" fmla="val 5016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1694" y="2973705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F5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61694" y="3928745"/>
            <a:ext cx="295458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makes customers unhappy?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5682" y="2717800"/>
            <a:ext cx="3380343" cy="1962150"/>
          </a:xfrm>
          <a:prstGeom prst="roundRect">
            <a:avLst>
              <a:gd name="adj" fmla="val 5016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1587" y="2973705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F5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251587" y="3928745"/>
            <a:ext cx="295458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Are our discounts earning their cost?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b="1" spc="100" kern="0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DATA AND METHOD</a:t>
            </a:r>
            <a:endParaRPr lang="en-US" sz="1374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56916"/>
            <a:ext cx="10883392" cy="88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7"/>
              </a:lnSpc>
              <a:buNone/>
            </a:pPr>
            <a:r>
              <a:rPr lang="en-US" sz="3070" b="1" i="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50,000 orders, checked and then compared group by group</a:t>
            </a:r>
            <a:endParaRPr lang="en-US" sz="3070" dirty="0"/>
          </a:p>
        </p:txBody>
      </p:sp>
      <p:sp>
        <p:nvSpPr>
          <p:cNvPr id="4" name="Shape 2"/>
          <p:cNvSpPr/>
          <p:nvPr/>
        </p:nvSpPr>
        <p:spPr>
          <a:xfrm>
            <a:off x="815975" y="2524363"/>
            <a:ext cx="3380264" cy="1886109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780268"/>
            <a:ext cx="2954507" cy="830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63"/>
              </a:lnSpc>
              <a:buNone/>
            </a:pPr>
            <a:r>
              <a:rPr lang="en-US" sz="4545" b="1" dirty="0">
                <a:solidFill>
                  <a:srgbClr val="2F5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50K</a:t>
            </a:r>
            <a:endParaRPr lang="en-US" sz="4545" dirty="0"/>
          </a:p>
        </p:txBody>
      </p:sp>
      <p:sp>
        <p:nvSpPr>
          <p:cNvPr id="6" name="Text 4"/>
          <p:cNvSpPr/>
          <p:nvPr/>
        </p:nvSpPr>
        <p:spPr>
          <a:xfrm>
            <a:off x="1071880" y="3687207"/>
            <a:ext cx="2954507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43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orders from 6 countries, 5 product categories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4405789" y="2524363"/>
            <a:ext cx="3380343" cy="1886109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2780268"/>
            <a:ext cx="2954589" cy="830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63"/>
              </a:lnSpc>
              <a:buNone/>
            </a:pPr>
            <a:r>
              <a:rPr lang="en-US" sz="4545" b="1" dirty="0">
                <a:solidFill>
                  <a:srgbClr val="2F5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$32.1M</a:t>
            </a:r>
            <a:endParaRPr lang="en-US" sz="4545" dirty="0"/>
          </a:p>
        </p:txBody>
      </p:sp>
      <p:sp>
        <p:nvSpPr>
          <p:cNvPr id="9" name="Text 7"/>
          <p:cNvSpPr/>
          <p:nvPr/>
        </p:nvSpPr>
        <p:spPr>
          <a:xfrm>
            <a:off x="4661694" y="3687207"/>
            <a:ext cx="2954589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43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revenue, Jan 2023 to Jun 2026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995682" y="2524363"/>
            <a:ext cx="3380343" cy="1886109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2780268"/>
            <a:ext cx="2954589" cy="830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63"/>
              </a:lnSpc>
              <a:buNone/>
            </a:pPr>
            <a:r>
              <a:rPr lang="en-US" sz="4545" b="1" dirty="0">
                <a:solidFill>
                  <a:srgbClr val="2F5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4545" dirty="0"/>
          </a:p>
        </p:txBody>
      </p:sp>
      <p:sp>
        <p:nvSpPr>
          <p:cNvPr id="12" name="Text 10"/>
          <p:cNvSpPr/>
          <p:nvPr/>
        </p:nvSpPr>
        <p:spPr>
          <a:xfrm>
            <a:off x="8251587" y="3687207"/>
            <a:ext cx="2954589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43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missing values, duplicates or revenue errors after checks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812800" y="4718447"/>
            <a:ext cx="10883392" cy="552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6"/>
              </a:lnSpc>
              <a:buNone/>
            </a:pPr>
            <a:r>
              <a:rPr lang="en-US" sz="1545" b="1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How:</a:t>
            </a:r>
            <a:r>
              <a:rPr lang="en-US" sz="1545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we compared results by product, season, age group, delivery speed and discount level, and built an interactive dashboard to explore them.</a:t>
            </a:r>
            <a:endParaRPr lang="en-US" sz="1545" dirty="0"/>
          </a:p>
        </p:txBody>
      </p:sp>
      <p:sp>
        <p:nvSpPr>
          <p:cNvPr id="14" name="Text 12"/>
          <p:cNvSpPr/>
          <p:nvPr/>
        </p:nvSpPr>
        <p:spPr>
          <a:xfrm>
            <a:off x="812800" y="5550694"/>
            <a:ext cx="11379200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4"/>
              </a:lnSpc>
              <a:buNone/>
            </a:pPr>
            <a:r>
              <a:rPr lang="en-US" sz="1463" b="1" dirty="0">
                <a:solidFill>
                  <a:srgbClr val="5C66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Caution:</a:t>
            </a:r>
            <a:r>
              <a:rPr lang="en-US" sz="1463" dirty="0">
                <a:solidFill>
                  <a:srgbClr val="5C66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customer IDs were not consistent (the same ID showed different ages), so we studied orders, not individual customers.</a:t>
            </a:r>
            <a:endParaRPr lang="en-US" sz="146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1339" b="1" spc="100" kern="0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KEY FINDINGS</a:t>
            </a:r>
            <a:endParaRPr lang="en-US" sz="133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9614"/>
            <a:ext cx="10883392" cy="44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22"/>
              </a:lnSpc>
              <a:buNone/>
            </a:pPr>
            <a:r>
              <a:rPr lang="en-US" sz="3020" b="1" i="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things management should know</a:t>
            </a:r>
            <a:endParaRPr lang="en-US" sz="3020" dirty="0"/>
          </a:p>
        </p:txBody>
      </p:sp>
      <p:sp>
        <p:nvSpPr>
          <p:cNvPr id="4" name="Shape 2"/>
          <p:cNvSpPr/>
          <p:nvPr/>
        </p:nvSpPr>
        <p:spPr>
          <a:xfrm>
            <a:off x="815975" y="2074228"/>
            <a:ext cx="5175250" cy="1828324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330132"/>
            <a:ext cx="4803343" cy="7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69"/>
              </a:lnSpc>
              <a:buNone/>
            </a:pPr>
            <a:r>
              <a:rPr lang="en-US" sz="4335" b="1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77%</a:t>
            </a:r>
            <a:endParaRPr lang="en-US" sz="4335" dirty="0"/>
          </a:p>
        </p:txBody>
      </p:sp>
      <p:sp>
        <p:nvSpPr>
          <p:cNvPr id="6" name="Text 4"/>
          <p:cNvSpPr/>
          <p:nvPr/>
        </p:nvSpPr>
        <p:spPr>
          <a:xfrm>
            <a:off x="1071880" y="3200479"/>
            <a:ext cx="4916170" cy="471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34"/>
              </a:lnSpc>
              <a:buNone/>
            </a:pPr>
            <a:r>
              <a:rPr lang="en-US" sz="1411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revenue comes from Electronics, but only 30% of orders</a:t>
            </a:r>
            <a:endParaRPr lang="en-US" sz="1411" dirty="0"/>
          </a:p>
        </p:txBody>
      </p:sp>
      <p:sp>
        <p:nvSpPr>
          <p:cNvPr id="7" name="Shape 5"/>
          <p:cNvSpPr/>
          <p:nvPr/>
        </p:nvSpPr>
        <p:spPr>
          <a:xfrm>
            <a:off x="6200775" y="2074228"/>
            <a:ext cx="5175250" cy="1828324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680" y="2330132"/>
            <a:ext cx="4803343" cy="7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69"/>
              </a:lnSpc>
              <a:buNone/>
            </a:pPr>
            <a:r>
              <a:rPr lang="en-US" sz="4335" b="1" dirty="0">
                <a:solidFill>
                  <a:srgbClr val="2F5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44%</a:t>
            </a:r>
            <a:endParaRPr lang="en-US" sz="4335" dirty="0"/>
          </a:p>
        </p:txBody>
      </p:sp>
      <p:sp>
        <p:nvSpPr>
          <p:cNvPr id="9" name="Text 7"/>
          <p:cNvSpPr/>
          <p:nvPr/>
        </p:nvSpPr>
        <p:spPr>
          <a:xfrm>
            <a:off x="6456680" y="3200479"/>
            <a:ext cx="4916170" cy="471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63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each year's revenue arrives in Nov-Dec, just 2 months</a:t>
            </a:r>
            <a:endParaRPr lang="en-US" sz="1463" dirty="0"/>
          </a:p>
        </p:txBody>
      </p:sp>
      <p:sp>
        <p:nvSpPr>
          <p:cNvPr id="10" name="Shape 8"/>
          <p:cNvSpPr/>
          <p:nvPr/>
        </p:nvSpPr>
        <p:spPr>
          <a:xfrm>
            <a:off x="815975" y="4213701"/>
            <a:ext cx="5175250" cy="1828324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1880" y="4469606"/>
            <a:ext cx="4803343" cy="7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69"/>
              </a:lnSpc>
              <a:buNone/>
            </a:pPr>
            <a:r>
              <a:rPr lang="en-US" sz="4335" b="1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in 3</a:t>
            </a:r>
            <a:endParaRPr lang="en-US" sz="4335" dirty="0"/>
          </a:p>
        </p:txBody>
      </p:sp>
      <p:sp>
        <p:nvSpPr>
          <p:cNvPr id="12" name="Text 10"/>
          <p:cNvSpPr/>
          <p:nvPr/>
        </p:nvSpPr>
        <p:spPr>
          <a:xfrm>
            <a:off x="1071880" y="5339953"/>
            <a:ext cx="4916170" cy="471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06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orders arrive late (11+ days) and are rated about 2.0 vs 4.0</a:t>
            </a:r>
            <a:endParaRPr lang="en-US" sz="1406" dirty="0"/>
          </a:p>
        </p:txBody>
      </p:sp>
      <p:sp>
        <p:nvSpPr>
          <p:cNvPr id="13" name="Shape 11"/>
          <p:cNvSpPr/>
          <p:nvPr/>
        </p:nvSpPr>
        <p:spPr>
          <a:xfrm>
            <a:off x="6200775" y="4213701"/>
            <a:ext cx="5175250" cy="1828324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6680" y="4469606"/>
            <a:ext cx="4803343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F5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$5.3M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456680" y="5424647"/>
            <a:ext cx="491617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given away in discounts, 14% of sales before discount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DEEP DIVE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Delivery speed decides the customer rating</a:t>
            </a:r>
            <a:endParaRPr lang="en-US" sz="3200" dirty="0"/>
          </a:p>
        </p:txBody>
      </p:sp>
      <p:pic>
        <p:nvPicPr>
          <p:cNvPr id="4" name="Image 0" descr="Average rating by delivery days: about 4.0 for days 1-10, then about 2.0 from day 1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118361"/>
            <a:ext cx="6350000" cy="254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67600" y="2387600"/>
            <a:ext cx="40289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10 or sooner:</a:t>
            </a:r>
            <a:r>
              <a:rPr lang="en-US" sz="160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average rating 3.98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67600" y="2839720"/>
            <a:ext cx="402894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11 or later:</a:t>
            </a:r>
            <a:r>
              <a:rPr lang="en-US" sz="160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average rating 2.03, and 95% of these orders rated below 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67600" y="3566161"/>
            <a:ext cx="4028948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Everywhere:</a:t>
            </a:r>
            <a:r>
              <a:rPr lang="en-US" sz="160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late rates are 32-34% in all six countries, so this is a company-wide issue, not a local one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1339" b="1" spc="100" kern="0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RECOMMENDATIONS</a:t>
            </a:r>
            <a:endParaRPr lang="en-US" sz="133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9614"/>
            <a:ext cx="10883392" cy="44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22"/>
              </a:lnSpc>
              <a:buNone/>
            </a:pPr>
            <a:r>
              <a:rPr lang="en-US" sz="3020" b="1" i="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management should do</a:t>
            </a:r>
            <a:endParaRPr lang="en-US" sz="3020" dirty="0"/>
          </a:p>
        </p:txBody>
      </p:sp>
      <p:sp>
        <p:nvSpPr>
          <p:cNvPr id="4" name="Shape 2"/>
          <p:cNvSpPr/>
          <p:nvPr/>
        </p:nvSpPr>
        <p:spPr>
          <a:xfrm>
            <a:off x="815975" y="2074227"/>
            <a:ext cx="5175250" cy="1828324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330134"/>
            <a:ext cx="4803343" cy="7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69"/>
              </a:lnSpc>
              <a:buNone/>
            </a:pPr>
            <a:r>
              <a:rPr lang="en-US" sz="4335" b="1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4335" dirty="0"/>
          </a:p>
        </p:txBody>
      </p:sp>
      <p:sp>
        <p:nvSpPr>
          <p:cNvPr id="6" name="Text 4"/>
          <p:cNvSpPr/>
          <p:nvPr/>
        </p:nvSpPr>
        <p:spPr>
          <a:xfrm>
            <a:off x="1071880" y="3200481"/>
            <a:ext cx="4803343" cy="471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355" b="1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 delivery first.</a:t>
            </a:r>
            <a:r>
              <a:rPr lang="en-US" sz="1355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Set a 10-day maximum and find why a third of orders miss it.</a:t>
            </a:r>
            <a:endParaRPr lang="en-US" sz="1355" dirty="0"/>
          </a:p>
        </p:txBody>
      </p:sp>
      <p:sp>
        <p:nvSpPr>
          <p:cNvPr id="7" name="Shape 5"/>
          <p:cNvSpPr/>
          <p:nvPr/>
        </p:nvSpPr>
        <p:spPr>
          <a:xfrm>
            <a:off x="6200775" y="2074227"/>
            <a:ext cx="5175250" cy="1828324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680" y="2330134"/>
            <a:ext cx="4803343" cy="7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69"/>
              </a:lnSpc>
              <a:buNone/>
            </a:pPr>
            <a:r>
              <a:rPr lang="en-US" sz="4335" b="1" dirty="0">
                <a:solidFill>
                  <a:srgbClr val="2F5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4335" dirty="0"/>
          </a:p>
        </p:txBody>
      </p:sp>
      <p:sp>
        <p:nvSpPr>
          <p:cNvPr id="9" name="Text 7"/>
          <p:cNvSpPr/>
          <p:nvPr/>
        </p:nvSpPr>
        <p:spPr>
          <a:xfrm>
            <a:off x="6456680" y="3200481"/>
            <a:ext cx="4803343" cy="471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355" b="1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Protect Electronics</a:t>
            </a:r>
            <a:r>
              <a:rPr lang="en-US" sz="1355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(stock, supply) and grow Home &amp; Kitchen and Apparel to reduce dependence.</a:t>
            </a:r>
            <a:endParaRPr lang="en-US" sz="1355" dirty="0"/>
          </a:p>
        </p:txBody>
      </p:sp>
      <p:sp>
        <p:nvSpPr>
          <p:cNvPr id="10" name="Shape 8"/>
          <p:cNvSpPr/>
          <p:nvPr/>
        </p:nvSpPr>
        <p:spPr>
          <a:xfrm>
            <a:off x="815975" y="4213702"/>
            <a:ext cx="5175250" cy="1828324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1880" y="4469606"/>
            <a:ext cx="4803343" cy="7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69"/>
              </a:lnSpc>
              <a:buNone/>
            </a:pPr>
            <a:r>
              <a:rPr lang="en-US" sz="4335" b="1" dirty="0">
                <a:solidFill>
                  <a:srgbClr val="2F5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4335" dirty="0"/>
          </a:p>
        </p:txBody>
      </p:sp>
      <p:sp>
        <p:nvSpPr>
          <p:cNvPr id="12" name="Text 10"/>
          <p:cNvSpPr/>
          <p:nvPr/>
        </p:nvSpPr>
        <p:spPr>
          <a:xfrm>
            <a:off x="1071880" y="5339953"/>
            <a:ext cx="4803343" cy="471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355" b="1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smaller Nov-Dec discounts.</a:t>
            </a:r>
            <a:r>
              <a:rPr lang="en-US" sz="1355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Orders hold 3.5 items at both 15% and 30% off.</a:t>
            </a:r>
            <a:endParaRPr lang="en-US" sz="1355" dirty="0"/>
          </a:p>
        </p:txBody>
      </p:sp>
      <p:sp>
        <p:nvSpPr>
          <p:cNvPr id="13" name="Shape 11"/>
          <p:cNvSpPr/>
          <p:nvPr/>
        </p:nvSpPr>
        <p:spPr>
          <a:xfrm>
            <a:off x="6200775" y="4213702"/>
            <a:ext cx="5175250" cy="1828324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6680" y="4469606"/>
            <a:ext cx="4803343" cy="7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69"/>
              </a:lnSpc>
              <a:buNone/>
            </a:pPr>
            <a:r>
              <a:rPr lang="en-US" sz="4335" b="1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4335" dirty="0"/>
          </a:p>
        </p:txBody>
      </p:sp>
      <p:sp>
        <p:nvSpPr>
          <p:cNvPr id="15" name="Text 13"/>
          <p:cNvSpPr/>
          <p:nvPr/>
        </p:nvSpPr>
        <p:spPr>
          <a:xfrm>
            <a:off x="6456680" y="5339953"/>
            <a:ext cx="4803343" cy="471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355" b="1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by age:</a:t>
            </a:r>
            <a:r>
              <a:rPr lang="en-US" sz="1355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Electronics offers to 25-34 (41% of revenue), Home &amp; Kitchen to 55+.</a:t>
            </a:r>
            <a:endParaRPr lang="en-US" sz="135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EXPECTED BUSINESS IMPACT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could improve and how we will know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28521"/>
          <a:ext cx="10556240" cy="345440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5308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Action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 could improve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How we measure it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</a:tr>
              <a:tr h="7975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Faster delivery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Rating could rise from 3.3 toward 4.0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Late orders: 33% today, target under 10%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75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Product mix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Less risk from one category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Electronics share of revenue (77% today)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75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Smarter discounts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Each 1 point cut saves about $0.37M over the period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Discount % of sales (14% today); units per order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 targeting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More revenue from top groups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Revenue by age group; order value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LIMITATIONS AND NEXT STEPS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5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 cautious, then dig deeper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118361"/>
            <a:ext cx="52324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 cautious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6620" y="2519682"/>
            <a:ext cx="514096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rating split at day 11 is unusually clean; confirm how ratings are collected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have revenue, not profit, so margin impact is unknown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Discount results show patterns, not proven cause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data ends in June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99200" y="2118361"/>
            <a:ext cx="52324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77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Analyze next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83020" y="2519682"/>
            <a:ext cx="5140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orders take 11+ days (carrier, warehouse, route)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Whether late delivery loses repeat customers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Profit by category, including discount cost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controlled discount test in Nov-Dec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-commerce Performance: Findings &amp; Recommendations">
  <a:themeElements>
    <a:clrScheme name="E-commerce Performance: Findings &amp; Recommendations">
      <a:dk1>
        <a:srgbClr val="1F2A37"/>
      </a:dk1>
      <a:lt1>
        <a:srgbClr val="F7F5F0"/>
      </a:lt1>
      <a:dk2>
        <a:srgbClr val="555D65"/>
      </a:dk2>
      <a:lt2>
        <a:srgbClr val="E1E1DE"/>
      </a:lt2>
      <a:accent1>
        <a:srgbClr val="D9772B"/>
      </a:accent1>
      <a:accent2>
        <a:srgbClr val="2F5D8A"/>
      </a:accent2>
      <a:accent3>
        <a:srgbClr val="5C6670"/>
      </a:accent3>
      <a:accent4>
        <a:srgbClr val="9AA0A6"/>
      </a:accent4>
      <a:accent5>
        <a:srgbClr val="757B81"/>
      </a:accent5>
      <a:accent6>
        <a:srgbClr val="969A9D"/>
      </a:accent6>
      <a:hlink>
        <a:srgbClr val="0563C1"/>
      </a:hlink>
      <a:folHlink>
        <a:srgbClr val="954F72"/>
      </a:folHlink>
    </a:clrScheme>
    <a:fontScheme name="E-commerce Performance: Findings &amp; Recommendations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Performance: Findings &amp; Recommendations</dc:title>
  <dc:subject/>
  <dc:creator/>
  <cp:lastModifiedBy/>
  <cp:revision>1</cp:revision>
  <dcterms:created xsi:type="dcterms:W3CDTF">2026-10-26T14:13:30Z</dcterms:created>
  <dcterms:modified xsi:type="dcterms:W3CDTF">2026-10-26T14:13:30Z</dcterms:modified>
</cp:coreProperties>
</file>